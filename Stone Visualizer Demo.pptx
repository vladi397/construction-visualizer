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Vladi. My personal project is the Stone Visualizer: you take a photo of your house, pick a stone, and see it on your own walls. The image on the right is one house, half before and half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comes from my dad's work. Almost every client struggles with the same thing: they see a loose sample or someone else's house and still can't imagine it on their own wall. Decisions get delayed or changed halfway through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Mark the surface, then a plain paste looks like a sticker. Perspective makes the stones get smaller with distance. Finally the photo's own light and shadow go back on top, so the house shadow stays where it was. Every stone comes from a photo of a real finished job, no generative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houses from the showcase, each split down the middle: left is the original photo, right is with the stone. Windows, doors and plants stay in front of the stone. Click "Try it live" to open the showcase and do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I learned: the perspective maths holds up, a 2 by 2 patch of real tiles came out at 0.99 to 1. And realism comes from keeping the light and shadow, not from a perfect outline. Next step: automatic wall detection with SAM2, then fine-tuning on my dad's photo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feedback: Would a customer accept dragging 4 corners, or must it be fully automatic? Which preview looked least real? What should come next: automatic detection or better rendering?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4161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2349500"/>
            <a:ext cx="7759700" cy="1346200"/>
          </a:xfrm>
          <a:prstGeom prst="rect">
            <a:avLst/>
          </a:prstGeom>
          <a:noFill/>
          <a:ln/>
        </p:spPr>
        <p:txBody>
          <a:bodyPr wrap="square" lIns="0" tIns="0" rIns="0" bIns="0" rtlCol="0" anchor="t"/>
          <a:lstStyle>
            <a:lvl1pPr algn="l" indent="0" marL="0">
              <a:lnSpc>
                <a:spcPct val="110000"/>
              </a:lnSpc>
              <a:buNone/>
              <a:defRPr lang="en-US" sz="7800" dirty="0">
                <a:solidFill>
                  <a:srgbClr val="EEEBE4"/>
                </a:solidFill>
                <a:latin typeface="Archivo" pitchFamily="34" charset="0"/>
                <a:ea typeface="Archivo" pitchFamily="34" charset="-122"/>
                <a:cs typeface="Archivo" pitchFamily="34" charset="-120"/>
              </a:defRPr>
            </a:lvl1pPr>
          </a:lstStyle>
          <a:p>
            <a:pPr algn="l" indent="0" marL="0">
              <a:lnSpc>
                <a:spcPct val="110000"/>
              </a:lnSpc>
              <a:buNone/>
            </a:pPr>
            <a:endParaRPr lang="en-US" sz="7800" dirty="0"/>
          </a:p>
        </p:txBody>
      </p:sp>
      <p:sp>
        <p:nvSpPr>
          <p:cNvPr id="3" name="Text Placeholder 2"/>
          <p:cNvSpPr/>
          <p:nvPr>
            <p:ph idx="101" type="body"/>
          </p:nvPr>
        </p:nvSpPr>
        <p:spPr>
          <a:xfrm>
            <a:off x="812800" y="4000500"/>
            <a:ext cx="10566400" cy="2044700"/>
          </a:xfrm>
          <a:prstGeom prst="rect">
            <a:avLst/>
          </a:prstGeom>
          <a:noFill/>
          <a:ln/>
        </p:spPr>
        <p:txBody>
          <a:bodyPr wrap="square" lIns="0" tIns="0" rIns="0" bIns="0" rtlCol="0" anchor="t"/>
          <a:lstStyle>
            <a:lvl1pPr algn="l" indent="0" marL="0">
              <a:lnSpc>
                <a:spcPct val="140000"/>
              </a:lnSpc>
              <a:buNone/>
              <a:defRPr lang="en-US" sz="1600" dirty="0">
                <a:solidFill>
                  <a:srgbClr val="EEEBE4"/>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1617"/>
        </a:solidFill>
      </p:bgPr>
    </p:bg>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laude.ai/artifact/4h46kmtGm2LnaVyFZTCCfv" TargetMode="External"/><Relationship Id="rId2" Type="http://schemas.openxmlformats.org/officeDocument/2006/relationships/image" Target="../media/image-4-1.jpeg"/><Relationship Id="rId3" Type="http://schemas.openxmlformats.org/officeDocument/2006/relationships/image" Target="../media/image-4-2.jpeg"/><Relationship Id="rId4" Type="http://schemas.openxmlformats.org/officeDocument/2006/relationships/image" Target="../media/image-4-3.jpeg"/><Relationship Id="rId5" Type="http://schemas.openxmlformats.org/officeDocument/2006/relationships/image" Target="../media/image-4-4.jpe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7"/>
        </a:solidFill>
      </p:bgPr>
    </p:bg>
    <p:spTree>
      <p:nvGrpSpPr>
        <p:cNvPr id="1" name=""/>
        <p:cNvGrpSpPr/>
        <p:nvPr/>
      </p:nvGrpSpPr>
      <p:grpSpPr>
        <a:xfrm>
          <a:off x="0" y="0"/>
          <a:ext cx="0" cy="0"/>
          <a:chOff x="0" y="0"/>
          <a:chExt cx="0" cy="0"/>
        </a:xfrm>
      </p:grpSpPr>
      <p:pic>
        <p:nvPicPr>
          <p:cNvPr id="2" name="Image 0" descr="A brick house, left half as it is, right half covered in sand stone">    </p:cNvPr>
          <p:cNvPicPr>
            <a:picLocks noChangeAspect="1"/>
          </p:cNvPicPr>
          <p:nvPr/>
        </p:nvPicPr>
        <p:blipFill>
          <a:blip r:embed="rId1"/>
          <a:srcRect l="0" r="0" t="0" b="0"/>
          <a:stretch/>
        </p:blipFill>
        <p:spPr>
          <a:xfrm>
            <a:off x="6146800" y="812800"/>
            <a:ext cx="5232400" cy="5232400"/>
          </a:xfrm>
          <a:prstGeom prst="roundRect">
            <a:avLst>
              <a:gd name="adj" fmla="val 2913"/>
            </a:avLst>
          </a:prstGeom>
        </p:spPr>
      </p:pic>
      <p:sp>
        <p:nvSpPr>
          <p:cNvPr id="3" name="Text 0"/>
          <p:cNvSpPr/>
          <p:nvPr/>
        </p:nvSpPr>
        <p:spPr>
          <a:xfrm>
            <a:off x="812800" y="1905000"/>
            <a:ext cx="4970780"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8662F"/>
                </a:solidFill>
                <a:latin typeface="Archivo" pitchFamily="34" charset="0"/>
                <a:ea typeface="Archivo" pitchFamily="34" charset="-122"/>
                <a:cs typeface="Archivo" pitchFamily="34" charset="-120"/>
              </a:rPr>
              <a:t>PERSONAL PROJECT · SEMESTER 4</a:t>
            </a:r>
            <a:endParaRPr lang="en-US" sz="1300" dirty="0"/>
          </a:p>
        </p:txBody>
      </p:sp>
      <p:sp>
        <p:nvSpPr>
          <p:cNvPr id="4" name="Text 1"/>
          <p:cNvSpPr/>
          <p:nvPr>
            <p:ph type="title"/>
          </p:nvPr>
        </p:nvSpPr>
        <p:spPr>
          <a:xfrm>
            <a:off x="812800" y="2286000"/>
            <a:ext cx="5101590" cy="1447800"/>
          </a:xfrm>
          <a:prstGeom prst="rect">
            <a:avLst/>
          </a:prstGeom>
          <a:noFill/>
          <a:ln/>
        </p:spPr>
        <p:txBody>
          <a:bodyPr wrap="square" lIns="0" tIns="0" rIns="0" bIns="0" rtlCol="0" anchor="t">
            <a:normAutofit/>
          </a:bodyPr>
          <a:lstStyle/>
          <a:p>
            <a:pPr algn="l" indent="0" marL="0">
              <a:lnSpc>
                <a:spcPts val="5600"/>
              </a:lnSpc>
              <a:buNone/>
            </a:pPr>
            <a:r>
              <a:rPr lang="en-US" sz="5600" b="1" i="0" dirty="0">
                <a:solidFill>
                  <a:srgbClr val="EEEBE4"/>
                </a:solidFill>
                <a:latin typeface="Archivo" pitchFamily="34" charset="0"/>
                <a:ea typeface="Archivo" pitchFamily="34" charset="-122"/>
                <a:cs typeface="Archivo" pitchFamily="34" charset="-120"/>
              </a:rPr>
              <a:t>Stone</a:t>
            </a:r>
            <a:endParaRPr lang="en-US" sz="5600" dirty="0"/>
          </a:p>
          <a:p>
            <a:pPr algn="l" indent="0" marL="0">
              <a:lnSpc>
                <a:spcPts val="5600"/>
              </a:lnSpc>
              <a:buNone/>
            </a:pPr>
            <a:r>
              <a:rPr lang="en-US" sz="5600" b="1" i="0" dirty="0">
                <a:solidFill>
                  <a:srgbClr val="EEEBE4"/>
                </a:solidFill>
                <a:latin typeface="Archivo" pitchFamily="34" charset="0"/>
                <a:ea typeface="Archivo" pitchFamily="34" charset="-122"/>
                <a:cs typeface="Archivo" pitchFamily="34" charset="-120"/>
              </a:rPr>
              <a:t>Visualizer</a:t>
            </a:r>
            <a:endParaRPr lang="en-US" sz="5600" dirty="0"/>
          </a:p>
        </p:txBody>
      </p:sp>
      <p:sp>
        <p:nvSpPr>
          <p:cNvPr id="5" name="Text 2"/>
          <p:cNvSpPr/>
          <p:nvPr/>
        </p:nvSpPr>
        <p:spPr>
          <a:xfrm>
            <a:off x="812800" y="3937000"/>
            <a:ext cx="457835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A9B0AC"/>
                </a:solidFill>
                <a:latin typeface="Public Sans" pitchFamily="34" charset="0"/>
                <a:ea typeface="Public Sans" pitchFamily="34" charset="-122"/>
                <a:cs typeface="Public Sans" pitchFamily="34" charset="-120"/>
              </a:rPr>
              <a:t>See real stone on your own house before anything is laid.</a:t>
            </a:r>
            <a:endParaRPr lang="en-US" sz="1800" dirty="0"/>
          </a:p>
        </p:txBody>
      </p:sp>
      <p:sp>
        <p:nvSpPr>
          <p:cNvPr id="6" name="Text 3"/>
          <p:cNvSpPr/>
          <p:nvPr/>
        </p:nvSpPr>
        <p:spPr>
          <a:xfrm>
            <a:off x="812800" y="5461000"/>
            <a:ext cx="457835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0AC"/>
                </a:solidFill>
                <a:latin typeface="Public Sans" pitchFamily="34" charset="0"/>
                <a:ea typeface="Public Sans" pitchFamily="34" charset="-122"/>
                <a:cs typeface="Public Sans" pitchFamily="34" charset="-120"/>
              </a:rPr>
              <a:t>Vladi Georgiev · Fontys ICT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BE4"/>
        </a:solidFill>
      </p:bgPr>
    </p:bg>
    <p:spTree>
      <p:nvGrpSpPr>
        <p:cNvPr id="1" name=""/>
        <p:cNvGrpSpPr/>
        <p:nvPr/>
      </p:nvGrpSpPr>
      <p:grpSpPr>
        <a:xfrm>
          <a:off x="0" y="0"/>
          <a:ext cx="0" cy="0"/>
          <a:chOff x="0" y="0"/>
          <a:chExt cx="0" cy="0"/>
        </a:xfrm>
      </p:grpSpPr>
      <p:pic>
        <p:nvPicPr>
          <p:cNvPr id="2" name="Image 0" descr="A finished quartzite retaining wall">    </p:cNvPr>
          <p:cNvPicPr>
            <a:picLocks noChangeAspect="1"/>
          </p:cNvPicPr>
          <p:nvPr/>
        </p:nvPicPr>
        <p:blipFill>
          <a:blip r:embed="rId1"/>
          <a:srcRect l="18056" r="18056" t="0" b="0"/>
          <a:stretch/>
        </p:blipFill>
        <p:spPr>
          <a:xfrm>
            <a:off x="0" y="0"/>
            <a:ext cx="5842000" cy="6858000"/>
          </a:xfrm>
          <a:prstGeom prst="rect">
            <a:avLst/>
          </a:prstGeom>
        </p:spPr>
      </p:pic>
      <p:sp>
        <p:nvSpPr>
          <p:cNvPr id="3" name="Text 0"/>
          <p:cNvSpPr/>
          <p:nvPr/>
        </p:nvSpPr>
        <p:spPr>
          <a:xfrm>
            <a:off x="6604000" y="1905000"/>
            <a:ext cx="4918456"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B4461A"/>
                </a:solidFill>
                <a:latin typeface="Archivo" pitchFamily="34" charset="0"/>
                <a:ea typeface="Archivo" pitchFamily="34" charset="-122"/>
                <a:cs typeface="Archivo" pitchFamily="34" charset="-120"/>
              </a:rPr>
              <a:t>THE PROBLEM</a:t>
            </a:r>
            <a:endParaRPr lang="en-US" sz="1300" dirty="0"/>
          </a:p>
        </p:txBody>
      </p:sp>
      <p:sp>
        <p:nvSpPr>
          <p:cNvPr id="4" name="Text 1"/>
          <p:cNvSpPr/>
          <p:nvPr>
            <p:ph type="title"/>
          </p:nvPr>
        </p:nvSpPr>
        <p:spPr>
          <a:xfrm>
            <a:off x="6604000" y="2286000"/>
            <a:ext cx="4918456" cy="1785620"/>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141617"/>
                </a:solidFill>
                <a:latin typeface="Archivo" pitchFamily="34" charset="0"/>
                <a:ea typeface="Archivo" pitchFamily="34" charset="-122"/>
                <a:cs typeface="Archivo" pitchFamily="34" charset="-120"/>
              </a:rPr>
              <a:t>Clients can’t picture the result.</a:t>
            </a:r>
            <a:endParaRPr lang="en-US" sz="4400" dirty="0"/>
          </a:p>
        </p:txBody>
      </p:sp>
      <p:sp>
        <p:nvSpPr>
          <p:cNvPr id="5" name="Text 2"/>
          <p:cNvSpPr/>
          <p:nvPr/>
        </p:nvSpPr>
        <p:spPr>
          <a:xfrm>
            <a:off x="6604000" y="4445000"/>
            <a:ext cx="4578350"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4F5552"/>
                </a:solidFill>
                <a:latin typeface="Public Sans" pitchFamily="34" charset="0"/>
                <a:ea typeface="Public Sans" pitchFamily="34" charset="-122"/>
                <a:cs typeface="Public Sans" pitchFamily="34" charset="-120"/>
              </a:rPr>
              <a:t>Loose samples and photos of other houses don’t help them decide.</a:t>
            </a:r>
            <a:endParaRPr lang="en-US" sz="1700" dirty="0"/>
          </a:p>
        </p:txBody>
      </p:sp>
      <p:sp>
        <p:nvSpPr>
          <p:cNvPr id="6" name="Text 3"/>
          <p:cNvSpPr/>
          <p:nvPr/>
        </p:nvSpPr>
        <p:spPr>
          <a:xfrm>
            <a:off x="6604000" y="5588000"/>
            <a:ext cx="45783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552"/>
                </a:solidFill>
                <a:latin typeface="Public Sans" pitchFamily="34" charset="0"/>
                <a:ea typeface="Public Sans" pitchFamily="34" charset="-122"/>
                <a:cs typeface="Public Sans" pitchFamily="34" charset="-120"/>
              </a:rPr>
              <a:t>Photo: a finished job from my father’s work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617"/>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8662F"/>
                </a:solidFill>
                <a:latin typeface="Archivo" pitchFamily="34" charset="0"/>
                <a:ea typeface="Archivo" pitchFamily="34" charset="-122"/>
                <a:cs typeface="Archivo" pitchFamily="34" charset="-120"/>
              </a:rPr>
              <a:t>HOW IT WORKS</a:t>
            </a:r>
            <a:endParaRPr lang="en-US" sz="1300" dirty="0"/>
          </a:p>
        </p:txBody>
      </p:sp>
      <p:sp>
        <p:nvSpPr>
          <p:cNvPr id="3" name="Text 1"/>
          <p:cNvSpPr/>
          <p:nvPr>
            <p:ph type="title"/>
          </p:nvPr>
        </p:nvSpPr>
        <p:spPr>
          <a:xfrm>
            <a:off x="812800" y="11176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EEBE4"/>
                </a:solidFill>
                <a:latin typeface="Archivo" pitchFamily="34" charset="0"/>
                <a:ea typeface="Archivo" pitchFamily="34" charset="-122"/>
                <a:cs typeface="Archivo" pitchFamily="34" charset="-120"/>
              </a:rPr>
              <a:t>Photo in. Real stone out.</a:t>
            </a:r>
            <a:endParaRPr lang="en-US" sz="3600" dirty="0"/>
          </a:p>
        </p:txBody>
      </p:sp>
      <p:pic>
        <p:nvPicPr>
          <p:cNvPr id="4" name="Image 0" descr="Original photo of a garden path">    </p:cNvPr>
          <p:cNvPicPr>
            <a:picLocks noChangeAspect="1"/>
          </p:cNvPicPr>
          <p:nvPr/>
        </p:nvPicPr>
        <p:blipFill>
          <a:blip r:embed="rId1"/>
          <a:srcRect l="0" r="0" t="41" b="41"/>
          <a:stretch/>
        </p:blipFill>
        <p:spPr>
          <a:xfrm>
            <a:off x="812800" y="2095500"/>
            <a:ext cx="2413000" cy="2571750"/>
          </a:xfrm>
          <a:prstGeom prst="roundRect">
            <a:avLst>
              <a:gd name="adj" fmla="val 4211"/>
            </a:avLst>
          </a:prstGeom>
        </p:spPr>
      </p:pic>
      <p:sp>
        <p:nvSpPr>
          <p:cNvPr id="5" name="Text 2"/>
          <p:cNvSpPr/>
          <p:nvPr/>
        </p:nvSpPr>
        <p:spPr>
          <a:xfrm>
            <a:off x="812800" y="4826000"/>
            <a:ext cx="24853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662F"/>
                </a:solidFill>
                <a:latin typeface="Public Sans" pitchFamily="34" charset="0"/>
                <a:ea typeface="Public Sans" pitchFamily="34" charset="-122"/>
                <a:cs typeface="Public Sans" pitchFamily="34" charset="-120"/>
              </a:rPr>
              <a:t>1</a:t>
            </a:r>
            <a:r>
              <a:rPr lang="en-US" sz="1500" dirty="0">
                <a:solidFill>
                  <a:srgbClr val="EEEBE4"/>
                </a:solidFill>
                <a:latin typeface="Public Sans" pitchFamily="34" charset="0"/>
                <a:ea typeface="Public Sans" pitchFamily="34" charset="-122"/>
                <a:cs typeface="Public Sans" pitchFamily="34" charset="-120"/>
              </a:rPr>
              <a:t> Photo</a:t>
            </a:r>
            <a:endParaRPr lang="en-US" sz="1500" dirty="0"/>
          </a:p>
        </p:txBody>
      </p:sp>
      <p:pic>
        <p:nvPicPr>
          <p:cNvPr id="6" name="Image 1" descr="Stone pasted flat, like a sticker">    </p:cNvPr>
          <p:cNvPicPr>
            <a:picLocks noChangeAspect="1"/>
          </p:cNvPicPr>
          <p:nvPr/>
        </p:nvPicPr>
        <p:blipFill>
          <a:blip r:embed="rId2"/>
          <a:srcRect l="0" r="0" t="41" b="41"/>
          <a:stretch/>
        </p:blipFill>
        <p:spPr>
          <a:xfrm>
            <a:off x="3530600" y="2095500"/>
            <a:ext cx="2413000" cy="2571750"/>
          </a:xfrm>
          <a:prstGeom prst="roundRect">
            <a:avLst>
              <a:gd name="adj" fmla="val 4211"/>
            </a:avLst>
          </a:prstGeom>
        </p:spPr>
      </p:pic>
      <p:sp>
        <p:nvSpPr>
          <p:cNvPr id="7" name="Text 3"/>
          <p:cNvSpPr/>
          <p:nvPr/>
        </p:nvSpPr>
        <p:spPr>
          <a:xfrm>
            <a:off x="3530600" y="4826000"/>
            <a:ext cx="24853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662F"/>
                </a:solidFill>
                <a:latin typeface="Public Sans" pitchFamily="34" charset="0"/>
                <a:ea typeface="Public Sans" pitchFamily="34" charset="-122"/>
                <a:cs typeface="Public Sans" pitchFamily="34" charset="-120"/>
              </a:rPr>
              <a:t>2</a:t>
            </a:r>
            <a:r>
              <a:rPr lang="en-US" sz="1500" dirty="0">
                <a:solidFill>
                  <a:srgbClr val="EEEBE4"/>
                </a:solidFill>
                <a:latin typeface="Public Sans" pitchFamily="34" charset="0"/>
                <a:ea typeface="Public Sans" pitchFamily="34" charset="-122"/>
                <a:cs typeface="Public Sans" pitchFamily="34" charset="-120"/>
              </a:rPr>
              <a:t> Flat paste</a:t>
            </a:r>
            <a:endParaRPr lang="en-US" sz="1500" dirty="0"/>
          </a:p>
        </p:txBody>
      </p:sp>
      <p:pic>
        <p:nvPicPr>
          <p:cNvPr id="8" name="Image 2" descr="Stone in correct perspective">    </p:cNvPr>
          <p:cNvPicPr>
            <a:picLocks noChangeAspect="1"/>
          </p:cNvPicPr>
          <p:nvPr/>
        </p:nvPicPr>
        <p:blipFill>
          <a:blip r:embed="rId3"/>
          <a:srcRect l="0" r="0" t="41" b="41"/>
          <a:stretch/>
        </p:blipFill>
        <p:spPr>
          <a:xfrm>
            <a:off x="6248400" y="2095500"/>
            <a:ext cx="2413000" cy="2571750"/>
          </a:xfrm>
          <a:prstGeom prst="roundRect">
            <a:avLst>
              <a:gd name="adj" fmla="val 4211"/>
            </a:avLst>
          </a:prstGeom>
        </p:spPr>
      </p:pic>
      <p:sp>
        <p:nvSpPr>
          <p:cNvPr id="9" name="Text 4"/>
          <p:cNvSpPr/>
          <p:nvPr/>
        </p:nvSpPr>
        <p:spPr>
          <a:xfrm>
            <a:off x="6248400" y="4826000"/>
            <a:ext cx="24853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662F"/>
                </a:solidFill>
                <a:latin typeface="Public Sans" pitchFamily="34" charset="0"/>
                <a:ea typeface="Public Sans" pitchFamily="34" charset="-122"/>
                <a:cs typeface="Public Sans" pitchFamily="34" charset="-120"/>
              </a:rPr>
              <a:t>3</a:t>
            </a:r>
            <a:r>
              <a:rPr lang="en-US" sz="1500" dirty="0">
                <a:solidFill>
                  <a:srgbClr val="EEEBE4"/>
                </a:solidFill>
                <a:latin typeface="Public Sans" pitchFamily="34" charset="0"/>
                <a:ea typeface="Public Sans" pitchFamily="34" charset="-122"/>
                <a:cs typeface="Public Sans" pitchFamily="34" charset="-120"/>
              </a:rPr>
              <a:t> Perspective</a:t>
            </a:r>
            <a:endParaRPr lang="en-US" sz="1500" dirty="0"/>
          </a:p>
        </p:txBody>
      </p:sp>
      <p:pic>
        <p:nvPicPr>
          <p:cNvPr id="10" name="Image 3" descr="Stone with the photo's light and shadow kept">    </p:cNvPr>
          <p:cNvPicPr>
            <a:picLocks noChangeAspect="1"/>
          </p:cNvPicPr>
          <p:nvPr/>
        </p:nvPicPr>
        <p:blipFill>
          <a:blip r:embed="rId4"/>
          <a:srcRect l="25" r="25" t="0" b="0"/>
          <a:stretch/>
        </p:blipFill>
        <p:spPr>
          <a:xfrm>
            <a:off x="8991600" y="2120900"/>
            <a:ext cx="2362200" cy="2520950"/>
          </a:xfrm>
          <a:prstGeom prst="roundRect">
            <a:avLst>
              <a:gd name="adj" fmla="val 3226"/>
            </a:avLst>
          </a:prstGeom>
        </p:spPr>
      </p:pic>
      <p:sp>
        <p:nvSpPr>
          <p:cNvPr id="11" name="Shape 5"/>
          <p:cNvSpPr/>
          <p:nvPr/>
        </p:nvSpPr>
        <p:spPr>
          <a:xfrm>
            <a:off x="8978900" y="2108200"/>
            <a:ext cx="2387600" cy="2546350"/>
          </a:xfrm>
          <a:prstGeom prst="roundRect">
            <a:avLst>
              <a:gd name="adj" fmla="val 3723"/>
            </a:avLst>
          </a:prstGeom>
          <a:noFill/>
          <a:ln w="25400">
            <a:solidFill>
              <a:srgbClr val="E8662F"/>
            </a:solidFill>
            <a:prstDash val="solid"/>
          </a:ln>
        </p:spPr>
      </p:sp>
      <p:sp>
        <p:nvSpPr>
          <p:cNvPr id="12" name="Text 6"/>
          <p:cNvSpPr/>
          <p:nvPr/>
        </p:nvSpPr>
        <p:spPr>
          <a:xfrm>
            <a:off x="8966200" y="4826000"/>
            <a:ext cx="248539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662F"/>
                </a:solidFill>
                <a:latin typeface="Public Sans" pitchFamily="34" charset="0"/>
                <a:ea typeface="Public Sans" pitchFamily="34" charset="-122"/>
                <a:cs typeface="Public Sans" pitchFamily="34" charset="-120"/>
              </a:rPr>
              <a:t>4</a:t>
            </a:r>
            <a:r>
              <a:rPr lang="en-US" sz="1500" dirty="0">
                <a:solidFill>
                  <a:srgbClr val="EEEBE4"/>
                </a:solidFill>
                <a:latin typeface="Public Sans" pitchFamily="34" charset="0"/>
                <a:ea typeface="Public Sans" pitchFamily="34" charset="-122"/>
                <a:cs typeface="Public Sans" pitchFamily="34" charset="-120"/>
              </a:rPr>
              <a:t> Light and shadow</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BE4"/>
        </a:solidFill>
      </p:bgPr>
    </p:bg>
    <p:spTree>
      <p:nvGrpSpPr>
        <p:cNvPr id="1" name=""/>
        <p:cNvGrpSpPr/>
        <p:nvPr/>
      </p:nvGrpSpPr>
      <p:grpSpPr>
        <a:xfrm>
          <a:off x="0" y="0"/>
          <a:ext cx="0" cy="0"/>
          <a:chOff x="0" y="0"/>
          <a:chExt cx="0" cy="0"/>
        </a:xfrm>
      </p:grpSpPr>
      <p:sp>
        <p:nvSpPr>
          <p:cNvPr id="2" name="Text 0"/>
          <p:cNvSpPr/>
          <p:nvPr/>
        </p:nvSpPr>
        <p:spPr>
          <a:xfrm>
            <a:off x="812800" y="1066800"/>
            <a:ext cx="2158365"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B4461A"/>
                </a:solidFill>
                <a:latin typeface="Archivo" pitchFamily="34" charset="0"/>
                <a:ea typeface="Archivo" pitchFamily="34" charset="-122"/>
                <a:cs typeface="Archivo" pitchFamily="34" charset="-120"/>
              </a:rPr>
              <a:t>THE SHOWCASE</a:t>
            </a:r>
            <a:endParaRPr lang="en-US" sz="1300" dirty="0"/>
          </a:p>
        </p:txBody>
      </p:sp>
      <p:sp>
        <p:nvSpPr>
          <p:cNvPr id="3" name="Text 1"/>
          <p:cNvSpPr/>
          <p:nvPr>
            <p:ph type="title"/>
          </p:nvPr>
        </p:nvSpPr>
        <p:spPr>
          <a:xfrm>
            <a:off x="812800" y="1371600"/>
            <a:ext cx="2158365" cy="226060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617"/>
                </a:solidFill>
                <a:latin typeface="Archivo" pitchFamily="34" charset="0"/>
                <a:ea typeface="Archivo" pitchFamily="34" charset="-122"/>
                <a:cs typeface="Archivo" pitchFamily="34" charset="-120"/>
              </a:rPr>
              <a:t>Pick a stone. See it on the house.</a:t>
            </a:r>
            <a:endParaRPr lang="en-US" sz="3200" dirty="0"/>
          </a:p>
        </p:txBody>
      </p:sp>
      <p:sp>
        <p:nvSpPr>
          <p:cNvPr id="4" name="Text 2"/>
          <p:cNvSpPr/>
          <p:nvPr/>
        </p:nvSpPr>
        <p:spPr>
          <a:xfrm>
            <a:off x="812800" y="3937000"/>
            <a:ext cx="215836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552"/>
                </a:solidFill>
                <a:latin typeface="Public Sans" pitchFamily="34" charset="0"/>
                <a:ea typeface="Public Sans" pitchFamily="34" charset="-122"/>
                <a:cs typeface="Public Sans" pitchFamily="34" charset="-120"/>
              </a:rPr>
              <a:t>4 houses, 6 stones, each cut from a photo of a finished job.</a:t>
            </a:r>
            <a:endParaRPr lang="en-US" sz="1400" dirty="0"/>
          </a:p>
        </p:txBody>
      </p:sp>
      <p:sp>
        <p:nvSpPr>
          <p:cNvPr id="5" name="Text 3"/>
          <p:cNvSpPr/>
          <p:nvPr/>
        </p:nvSpPr>
        <p:spPr>
          <a:xfrm>
            <a:off x="812800" y="5080000"/>
            <a:ext cx="2158365" cy="274320"/>
          </a:xfrm>
          <a:prstGeom prst="rect">
            <a:avLst/>
          </a:prstGeom>
          <a:noFill/>
          <a:ln/>
        </p:spPr>
        <p:txBody>
          <a:bodyPr wrap="square" lIns="0" tIns="0" rIns="0" bIns="0" rtlCol="0" anchor="t">
            <a:normAutofit/>
          </a:bodyPr>
          <a:lstStyle/>
          <a:p>
            <a:pPr algn="l" indent="0" marL="0">
              <a:lnSpc>
                <a:spcPts val="1960"/>
              </a:lnSpc>
              <a:buNone/>
            </a:pPr>
            <a:r>
              <a:rPr lang="en-US" sz="1400" b="1" u="sng" dirty="0">
                <a:solidFill>
                  <a:srgbClr val="B4461A"/>
                </a:solidFill>
                <a:latin typeface="Public Sans" pitchFamily="34" charset="0"/>
                <a:ea typeface="Public Sans" pitchFamily="34" charset="-122"/>
                <a:cs typeface="Public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Try it live</a:t>
            </a:r>
            <a:endParaRPr lang="en-US" sz="1400" dirty="0"/>
          </a:p>
        </p:txBody>
      </p:sp>
      <p:pic>
        <p:nvPicPr>
          <p:cNvPr id="6" name="Image 0" descr="Brick house, left half before, right half in sand stone">    </p:cNvPr>
          <p:cNvPicPr>
            <a:picLocks noChangeAspect="1"/>
          </p:cNvPicPr>
          <p:nvPr/>
        </p:nvPicPr>
        <p:blipFill>
          <a:blip r:embed="rId2"/>
          <a:srcRect l="0" r="0" t="0" b="0"/>
          <a:stretch/>
        </p:blipFill>
        <p:spPr>
          <a:xfrm>
            <a:off x="3098800" y="1066800"/>
            <a:ext cx="4064000" cy="2286000"/>
          </a:xfrm>
          <a:prstGeom prst="roundRect">
            <a:avLst>
              <a:gd name="adj" fmla="val 4444"/>
            </a:avLst>
          </a:prstGeom>
        </p:spPr>
      </p:pic>
      <p:sp>
        <p:nvSpPr>
          <p:cNvPr id="7" name="Text 4"/>
          <p:cNvSpPr/>
          <p:nvPr/>
        </p:nvSpPr>
        <p:spPr>
          <a:xfrm>
            <a:off x="3200400" y="1168400"/>
            <a:ext cx="1270000" cy="289560"/>
          </a:xfrm>
          <a:prstGeom prst="roundRect">
            <a:avLst>
              <a:gd name="adj" fmla="val 17544"/>
            </a:avLst>
          </a:prstGeom>
          <a:solidFill>
            <a:srgbClr val="141617"/>
          </a:solidFill>
          <a:ln/>
        </p:spPr>
        <p:txBody>
          <a:bodyPr wrap="square" lIns="48621" tIns="23221" rIns="48621" bIns="0" rtlCol="0" anchor="t">
            <a:normAutofit/>
          </a:bodyPr>
          <a:lstStyle/>
          <a:p>
            <a:pPr algn="ctr" indent="0" marL="0">
              <a:lnSpc>
                <a:spcPts val="1680"/>
              </a:lnSpc>
              <a:buNone/>
            </a:pPr>
            <a:r>
              <a:rPr lang="en-US" sz="1200" b="1" dirty="0">
                <a:solidFill>
                  <a:srgbClr val="EEEBE4"/>
                </a:solidFill>
                <a:latin typeface="Public Sans" pitchFamily="34" charset="0"/>
                <a:ea typeface="Public Sans" pitchFamily="34" charset="-122"/>
                <a:cs typeface="Public Sans" pitchFamily="34" charset="-120"/>
              </a:rPr>
              <a:t>Brick house</a:t>
            </a:r>
            <a:endParaRPr lang="en-US" sz="1200" dirty="0"/>
          </a:p>
        </p:txBody>
      </p:sp>
      <p:pic>
        <p:nvPicPr>
          <p:cNvPr id="8" name="Image 1" descr="Old rectory, left half before, right half in stacked stone">    </p:cNvPr>
          <p:cNvPicPr>
            <a:picLocks noChangeAspect="1"/>
          </p:cNvPicPr>
          <p:nvPr/>
        </p:nvPicPr>
        <p:blipFill>
          <a:blip r:embed="rId3"/>
          <a:srcRect l="0" r="0" t="0" b="0"/>
          <a:stretch/>
        </p:blipFill>
        <p:spPr>
          <a:xfrm>
            <a:off x="7315200" y="1066800"/>
            <a:ext cx="4064000" cy="2286000"/>
          </a:xfrm>
          <a:prstGeom prst="roundRect">
            <a:avLst>
              <a:gd name="adj" fmla="val 4444"/>
            </a:avLst>
          </a:prstGeom>
        </p:spPr>
      </p:pic>
      <p:sp>
        <p:nvSpPr>
          <p:cNvPr id="9" name="Text 5"/>
          <p:cNvSpPr/>
          <p:nvPr/>
        </p:nvSpPr>
        <p:spPr>
          <a:xfrm>
            <a:off x="7416800" y="1168400"/>
            <a:ext cx="1270000" cy="289560"/>
          </a:xfrm>
          <a:prstGeom prst="roundRect">
            <a:avLst>
              <a:gd name="adj" fmla="val 17544"/>
            </a:avLst>
          </a:prstGeom>
          <a:solidFill>
            <a:srgbClr val="141617"/>
          </a:solidFill>
          <a:ln/>
        </p:spPr>
        <p:txBody>
          <a:bodyPr wrap="square" lIns="48621" tIns="23221" rIns="48621" bIns="0" rtlCol="0" anchor="t">
            <a:normAutofit/>
          </a:bodyPr>
          <a:lstStyle/>
          <a:p>
            <a:pPr algn="ctr" indent="0" marL="0">
              <a:lnSpc>
                <a:spcPts val="1680"/>
              </a:lnSpc>
              <a:buNone/>
            </a:pPr>
            <a:r>
              <a:rPr lang="en-US" sz="1200" b="1" dirty="0">
                <a:solidFill>
                  <a:srgbClr val="EEEBE4"/>
                </a:solidFill>
                <a:latin typeface="Public Sans" pitchFamily="34" charset="0"/>
                <a:ea typeface="Public Sans" pitchFamily="34" charset="-122"/>
                <a:cs typeface="Public Sans" pitchFamily="34" charset="-120"/>
              </a:rPr>
              <a:t>Old rectory</a:t>
            </a:r>
            <a:endParaRPr lang="en-US" sz="1200" dirty="0"/>
          </a:p>
        </p:txBody>
      </p:sp>
      <p:pic>
        <p:nvPicPr>
          <p:cNvPr id="10" name="Image 2" descr="New cottage, left half before, right half in quartzite">    </p:cNvPr>
          <p:cNvPicPr>
            <a:picLocks noChangeAspect="1"/>
          </p:cNvPicPr>
          <p:nvPr/>
        </p:nvPicPr>
        <p:blipFill>
          <a:blip r:embed="rId4"/>
          <a:srcRect l="0" r="0" t="0" b="0"/>
          <a:stretch/>
        </p:blipFill>
        <p:spPr>
          <a:xfrm>
            <a:off x="3098800" y="3505200"/>
            <a:ext cx="4064000" cy="2286000"/>
          </a:xfrm>
          <a:prstGeom prst="roundRect">
            <a:avLst>
              <a:gd name="adj" fmla="val 4444"/>
            </a:avLst>
          </a:prstGeom>
        </p:spPr>
      </p:pic>
      <p:sp>
        <p:nvSpPr>
          <p:cNvPr id="11" name="Text 6"/>
          <p:cNvSpPr/>
          <p:nvPr/>
        </p:nvSpPr>
        <p:spPr>
          <a:xfrm>
            <a:off x="3200400" y="3606800"/>
            <a:ext cx="1270000" cy="289560"/>
          </a:xfrm>
          <a:prstGeom prst="roundRect">
            <a:avLst>
              <a:gd name="adj" fmla="val 17544"/>
            </a:avLst>
          </a:prstGeom>
          <a:solidFill>
            <a:srgbClr val="141617"/>
          </a:solidFill>
          <a:ln/>
        </p:spPr>
        <p:txBody>
          <a:bodyPr wrap="square" lIns="48621" tIns="23221" rIns="48621" bIns="0" rtlCol="0" anchor="t">
            <a:normAutofit/>
          </a:bodyPr>
          <a:lstStyle/>
          <a:p>
            <a:pPr algn="ctr" indent="0" marL="0">
              <a:lnSpc>
                <a:spcPts val="1680"/>
              </a:lnSpc>
              <a:buNone/>
            </a:pPr>
            <a:r>
              <a:rPr lang="en-US" sz="1200" b="1" dirty="0">
                <a:solidFill>
                  <a:srgbClr val="EEEBE4"/>
                </a:solidFill>
                <a:latin typeface="Public Sans" pitchFamily="34" charset="0"/>
                <a:ea typeface="Public Sans" pitchFamily="34" charset="-122"/>
                <a:cs typeface="Public Sans" pitchFamily="34" charset="-120"/>
              </a:rPr>
              <a:t>New cottage</a:t>
            </a:r>
            <a:endParaRPr lang="en-US" sz="1200" dirty="0"/>
          </a:p>
        </p:txBody>
      </p:sp>
      <p:pic>
        <p:nvPicPr>
          <p:cNvPr id="12" name="Image 3" descr="Prairie house, left part before, right part with quartzite lower walls">    </p:cNvPr>
          <p:cNvPicPr>
            <a:picLocks noChangeAspect="1"/>
          </p:cNvPicPr>
          <p:nvPr/>
        </p:nvPicPr>
        <p:blipFill>
          <a:blip r:embed="rId5"/>
          <a:srcRect l="0" r="0" t="0" b="0"/>
          <a:stretch/>
        </p:blipFill>
        <p:spPr>
          <a:xfrm>
            <a:off x="7315200" y="3505200"/>
            <a:ext cx="4064000" cy="2286000"/>
          </a:xfrm>
          <a:prstGeom prst="roundRect">
            <a:avLst>
              <a:gd name="adj" fmla="val 4444"/>
            </a:avLst>
          </a:prstGeom>
        </p:spPr>
      </p:pic>
      <p:sp>
        <p:nvSpPr>
          <p:cNvPr id="13" name="Text 7"/>
          <p:cNvSpPr/>
          <p:nvPr/>
        </p:nvSpPr>
        <p:spPr>
          <a:xfrm>
            <a:off x="7416800" y="3606800"/>
            <a:ext cx="1270000" cy="289560"/>
          </a:xfrm>
          <a:prstGeom prst="roundRect">
            <a:avLst>
              <a:gd name="adj" fmla="val 17544"/>
            </a:avLst>
          </a:prstGeom>
          <a:solidFill>
            <a:srgbClr val="141617"/>
          </a:solidFill>
          <a:ln/>
        </p:spPr>
        <p:txBody>
          <a:bodyPr wrap="square" lIns="48621" tIns="23221" rIns="48621" bIns="0" rtlCol="0" anchor="t">
            <a:normAutofit/>
          </a:bodyPr>
          <a:lstStyle/>
          <a:p>
            <a:pPr algn="ctr" indent="0" marL="0">
              <a:lnSpc>
                <a:spcPts val="1680"/>
              </a:lnSpc>
              <a:buNone/>
            </a:pPr>
            <a:r>
              <a:rPr lang="en-US" sz="1200" b="1" dirty="0">
                <a:solidFill>
                  <a:srgbClr val="EEEBE4"/>
                </a:solidFill>
                <a:latin typeface="Public Sans" pitchFamily="34" charset="0"/>
                <a:ea typeface="Public Sans" pitchFamily="34" charset="-122"/>
                <a:cs typeface="Public Sans" pitchFamily="34" charset="-120"/>
              </a:rPr>
              <a:t>Prairie house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662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617"/>
                </a:solidFill>
                <a:latin typeface="Archivo" pitchFamily="34" charset="0"/>
                <a:ea typeface="Archivo" pitchFamily="34" charset="-122"/>
                <a:cs typeface="Archivo" pitchFamily="34" charset="-120"/>
              </a:rPr>
              <a:t>Learned, and what’s next</a:t>
            </a:r>
            <a:endParaRPr lang="en-US" sz="3600" dirty="0"/>
          </a:p>
        </p:txBody>
      </p:sp>
      <p:sp>
        <p:nvSpPr>
          <p:cNvPr id="3" name="Text 1"/>
          <p:cNvSpPr/>
          <p:nvPr/>
        </p:nvSpPr>
        <p:spPr>
          <a:xfrm>
            <a:off x="812800" y="2413000"/>
            <a:ext cx="3139440"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141617"/>
                </a:solidFill>
                <a:latin typeface="Archivo" pitchFamily="34" charset="0"/>
                <a:ea typeface="Archivo" pitchFamily="34" charset="-122"/>
                <a:cs typeface="Archivo" pitchFamily="34" charset="-120"/>
              </a:rPr>
              <a:t>LEARNED</a:t>
            </a:r>
            <a:endParaRPr lang="en-US" sz="1300" dirty="0"/>
          </a:p>
        </p:txBody>
      </p:sp>
      <p:sp>
        <p:nvSpPr>
          <p:cNvPr id="4" name="Text 2"/>
          <p:cNvSpPr/>
          <p:nvPr/>
        </p:nvSpPr>
        <p:spPr>
          <a:xfrm>
            <a:off x="812800" y="2730500"/>
            <a:ext cx="3139440" cy="685800"/>
          </a:xfrm>
          <a:prstGeom prst="rect">
            <a:avLst/>
          </a:prstGeom>
          <a:noFill/>
          <a:ln/>
        </p:spPr>
        <p:txBody>
          <a:bodyPr wrap="square" lIns="0" tIns="0" rIns="0" bIns="0" rtlCol="0" anchor="t">
            <a:normAutofit/>
          </a:bodyPr>
          <a:lstStyle/>
          <a:p>
            <a:pPr algn="l" indent="0" marL="0">
              <a:lnSpc>
                <a:spcPts val="5200"/>
              </a:lnSpc>
              <a:buNone/>
            </a:pPr>
            <a:r>
              <a:rPr lang="en-US" sz="5200" b="1" dirty="0">
                <a:solidFill>
                  <a:srgbClr val="141617"/>
                </a:solidFill>
                <a:latin typeface="Archivo" pitchFamily="34" charset="0"/>
                <a:ea typeface="Archivo" pitchFamily="34" charset="-122"/>
                <a:cs typeface="Archivo" pitchFamily="34" charset="-120"/>
              </a:rPr>
              <a:t>0.99:1</a:t>
            </a:r>
            <a:endParaRPr lang="en-US" sz="5200" dirty="0"/>
          </a:p>
        </p:txBody>
      </p:sp>
      <p:sp>
        <p:nvSpPr>
          <p:cNvPr id="5" name="Text 3"/>
          <p:cNvSpPr/>
          <p:nvPr/>
        </p:nvSpPr>
        <p:spPr>
          <a:xfrm>
            <a:off x="812800" y="3683000"/>
            <a:ext cx="313944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617"/>
                </a:solidFill>
                <a:latin typeface="Public Sans" pitchFamily="34" charset="0"/>
                <a:ea typeface="Public Sans" pitchFamily="34" charset="-122"/>
                <a:cs typeface="Public Sans" pitchFamily="34" charset="-120"/>
              </a:rPr>
              <a:t>The perspective maths measured a real square of tiles almost exactly.</a:t>
            </a:r>
            <a:endParaRPr lang="en-US" sz="1600" dirty="0"/>
          </a:p>
        </p:txBody>
      </p:sp>
      <p:sp>
        <p:nvSpPr>
          <p:cNvPr id="6" name="Text 4"/>
          <p:cNvSpPr/>
          <p:nvPr/>
        </p:nvSpPr>
        <p:spPr>
          <a:xfrm>
            <a:off x="4470400" y="2413000"/>
            <a:ext cx="3139440"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141617"/>
                </a:solidFill>
                <a:latin typeface="Archivo" pitchFamily="34" charset="0"/>
                <a:ea typeface="Archivo" pitchFamily="34" charset="-122"/>
                <a:cs typeface="Archivo" pitchFamily="34" charset="-120"/>
              </a:rPr>
              <a:t>LEARNED</a:t>
            </a:r>
            <a:endParaRPr lang="en-US" sz="1300" dirty="0"/>
          </a:p>
        </p:txBody>
      </p:sp>
      <p:sp>
        <p:nvSpPr>
          <p:cNvPr id="7" name="Text 5"/>
          <p:cNvSpPr/>
          <p:nvPr/>
        </p:nvSpPr>
        <p:spPr>
          <a:xfrm>
            <a:off x="4470400" y="2730500"/>
            <a:ext cx="3139440" cy="685800"/>
          </a:xfrm>
          <a:prstGeom prst="rect">
            <a:avLst/>
          </a:prstGeom>
          <a:noFill/>
          <a:ln/>
        </p:spPr>
        <p:txBody>
          <a:bodyPr wrap="square" lIns="0" tIns="0" rIns="0" bIns="0" rtlCol="0" anchor="t">
            <a:normAutofit/>
          </a:bodyPr>
          <a:lstStyle/>
          <a:p>
            <a:pPr algn="l" indent="0" marL="0">
              <a:lnSpc>
                <a:spcPts val="5200"/>
              </a:lnSpc>
              <a:buNone/>
            </a:pPr>
            <a:r>
              <a:rPr lang="en-US" sz="5200" b="1" dirty="0">
                <a:solidFill>
                  <a:srgbClr val="141617"/>
                </a:solidFill>
                <a:latin typeface="Archivo" pitchFamily="34" charset="0"/>
                <a:ea typeface="Archivo" pitchFamily="34" charset="-122"/>
                <a:cs typeface="Archivo" pitchFamily="34" charset="-120"/>
              </a:rPr>
              <a:t>Light</a:t>
            </a:r>
            <a:endParaRPr lang="en-US" sz="5200" dirty="0"/>
          </a:p>
        </p:txBody>
      </p:sp>
      <p:sp>
        <p:nvSpPr>
          <p:cNvPr id="8" name="Text 6"/>
          <p:cNvSpPr/>
          <p:nvPr/>
        </p:nvSpPr>
        <p:spPr>
          <a:xfrm>
            <a:off x="4470400" y="3683000"/>
            <a:ext cx="313944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617"/>
                </a:solidFill>
                <a:latin typeface="Public Sans" pitchFamily="34" charset="0"/>
                <a:ea typeface="Public Sans" pitchFamily="34" charset="-122"/>
                <a:cs typeface="Public Sans" pitchFamily="34" charset="-120"/>
              </a:rPr>
              <a:t>Keeping the photo’s shadows makes it believable, more than a perfect outline.</a:t>
            </a:r>
            <a:endParaRPr lang="en-US" sz="1600" dirty="0"/>
          </a:p>
        </p:txBody>
      </p:sp>
      <p:sp>
        <p:nvSpPr>
          <p:cNvPr id="9" name="Text 7"/>
          <p:cNvSpPr/>
          <p:nvPr/>
        </p:nvSpPr>
        <p:spPr>
          <a:xfrm>
            <a:off x="8128000" y="2413000"/>
            <a:ext cx="3348736" cy="25654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141617"/>
                </a:solidFill>
                <a:latin typeface="Archivo" pitchFamily="34" charset="0"/>
                <a:ea typeface="Archivo" pitchFamily="34" charset="-122"/>
                <a:cs typeface="Archivo" pitchFamily="34" charset="-120"/>
              </a:rPr>
              <a:t>NEXT</a:t>
            </a:r>
            <a:endParaRPr lang="en-US" sz="1300" dirty="0"/>
          </a:p>
        </p:txBody>
      </p:sp>
      <p:sp>
        <p:nvSpPr>
          <p:cNvPr id="10" name="Text 8"/>
          <p:cNvSpPr/>
          <p:nvPr/>
        </p:nvSpPr>
        <p:spPr>
          <a:xfrm>
            <a:off x="8128000" y="2730500"/>
            <a:ext cx="3348736" cy="685800"/>
          </a:xfrm>
          <a:prstGeom prst="rect">
            <a:avLst/>
          </a:prstGeom>
          <a:noFill/>
          <a:ln/>
        </p:spPr>
        <p:txBody>
          <a:bodyPr wrap="square" lIns="0" tIns="0" rIns="0" bIns="0" rtlCol="0" anchor="t">
            <a:normAutofit/>
          </a:bodyPr>
          <a:lstStyle/>
          <a:p>
            <a:pPr algn="l" indent="0" marL="0">
              <a:lnSpc>
                <a:spcPts val="5200"/>
              </a:lnSpc>
              <a:buNone/>
            </a:pPr>
            <a:r>
              <a:rPr lang="en-US" sz="5200" b="1" dirty="0">
                <a:solidFill>
                  <a:srgbClr val="141617"/>
                </a:solidFill>
                <a:latin typeface="Archivo" pitchFamily="34" charset="0"/>
                <a:ea typeface="Archivo" pitchFamily="34" charset="-122"/>
                <a:cs typeface="Archivo" pitchFamily="34" charset="-120"/>
              </a:rPr>
              <a:t>SAM2</a:t>
            </a:r>
            <a:endParaRPr lang="en-US" sz="5200" dirty="0"/>
          </a:p>
        </p:txBody>
      </p:sp>
      <p:sp>
        <p:nvSpPr>
          <p:cNvPr id="11" name="Text 9"/>
          <p:cNvSpPr/>
          <p:nvPr/>
        </p:nvSpPr>
        <p:spPr>
          <a:xfrm>
            <a:off x="8128000" y="3683000"/>
            <a:ext cx="32702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1617"/>
                </a:solidFill>
                <a:latin typeface="Public Sans" pitchFamily="34" charset="0"/>
                <a:ea typeface="Public Sans" pitchFamily="34" charset="-122"/>
                <a:cs typeface="Public Sans" pitchFamily="34" charset="-120"/>
              </a:rPr>
              <a:t>Find the wall automatically, then train on my dad’s job photos.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617"/>
        </a:solidFill>
      </p:bgPr>
    </p:bg>
    <p:spTree>
      <p:nvGrpSpPr>
        <p:cNvPr id="1" name=""/>
        <p:cNvGrpSpPr/>
        <p:nvPr/>
      </p:nvGrpSpPr>
      <p:grpSpPr>
        <a:xfrm>
          <a:off x="0" y="0"/>
          <a:ext cx="0" cy="0"/>
          <a:chOff x="0" y="0"/>
          <a:chExt cx="0" cy="0"/>
        </a:xfrm>
      </p:grpSpPr>
      <p:pic>
        <p:nvPicPr>
          <p:cNvPr id="2" name="Image 0" descr="rect">    </p:cNvPr>
          <p:cNvPicPr>
            <a:picLocks noChangeAspect="1"/>
          </p:cNvPicPr>
          <p:nvPr/>
        </p:nvPicPr>
        <p:blipFill>
          <a:blip r:embed="rId1"/>
          <a:srcRect l="0" r="0" t="0" b="0"/>
          <a:stretch/>
        </p:blipFill>
        <p:spPr>
          <a:xfrm>
            <a:off x="5791200" y="2159000"/>
            <a:ext cx="609600" cy="50800"/>
          </a:xfrm>
          <a:prstGeom prst="rect">
            <a:avLst/>
          </a:prstGeom>
        </p:spPr>
      </p:pic>
      <p:sp>
        <p:nvSpPr>
          <p:cNvPr id="3" name="Text 0"/>
          <p:cNvSpPr/>
          <p:nvPr>
            <p:ph type="title"/>
          </p:nvPr>
        </p:nvSpPr>
        <p:spPr>
          <a:xfrm>
            <a:off x="654304" y="2413000"/>
            <a:ext cx="10883392" cy="1295400"/>
          </a:xfrm>
          <a:prstGeom prst="rect">
            <a:avLst/>
          </a:prstGeom>
          <a:noFill/>
          <a:ln/>
        </p:spPr>
        <p:txBody>
          <a:bodyPr wrap="square" lIns="0" tIns="0" rIns="0" bIns="0" rtlCol="0" anchor="t">
            <a:normAutofit/>
          </a:bodyPr>
          <a:lstStyle/>
          <a:p>
            <a:pPr algn="ctr" indent="0" marL="0">
              <a:lnSpc>
                <a:spcPts val="10000"/>
              </a:lnSpc>
              <a:buNone/>
            </a:pPr>
            <a:r>
              <a:rPr lang="en-US" sz="10000" b="1" i="0" dirty="0">
                <a:solidFill>
                  <a:srgbClr val="EEEBE4"/>
                </a:solidFill>
                <a:latin typeface="Archivo" pitchFamily="34" charset="0"/>
                <a:ea typeface="Archivo" pitchFamily="34" charset="-122"/>
                <a:cs typeface="Archivo" pitchFamily="34" charset="-120"/>
              </a:rPr>
              <a:t>Questions?</a:t>
            </a:r>
            <a:endParaRPr lang="en-US" sz="10000" dirty="0"/>
          </a:p>
        </p:txBody>
      </p:sp>
      <p:sp>
        <p:nvSpPr>
          <p:cNvPr id="4" name="Text 1"/>
          <p:cNvSpPr/>
          <p:nvPr/>
        </p:nvSpPr>
        <p:spPr>
          <a:xfrm>
            <a:off x="654304" y="4064000"/>
            <a:ext cx="10883392" cy="345440"/>
          </a:xfrm>
          <a:prstGeom prst="rect">
            <a:avLst/>
          </a:prstGeom>
          <a:noFill/>
          <a:ln/>
        </p:spPr>
        <p:txBody>
          <a:bodyPr wrap="square" lIns="0" tIns="0" rIns="0" bIns="0" rtlCol="0" anchor="t">
            <a:normAutofit/>
          </a:bodyPr>
          <a:lstStyle/>
          <a:p>
            <a:pPr algn="ctr" indent="0" marL="0">
              <a:lnSpc>
                <a:spcPts val="2520"/>
              </a:lnSpc>
              <a:buNone/>
            </a:pPr>
            <a:r>
              <a:rPr lang="en-US" sz="1800" dirty="0">
                <a:solidFill>
                  <a:srgbClr val="A9B0AC"/>
                </a:solidFill>
                <a:latin typeface="Public Sans" pitchFamily="34" charset="0"/>
                <a:ea typeface="Public Sans" pitchFamily="34" charset="-122"/>
                <a:cs typeface="Public Sans" pitchFamily="34" charset="-120"/>
              </a:rPr>
              <a:t>Which preview looked least real to you?</a:t>
            </a:r>
            <a:endParaRPr lang="en-US" sz="1800" dirty="0"/>
          </a:p>
        </p:txBody>
      </p:sp>
    </p:spTree>
  </p:cSld>
  <p:clrMapOvr>
    <a:masterClrMapping/>
  </p:clrMapOvr>
</p:sld>
</file>

<file path=ppt/theme/theme1.xml><?xml version="1.0" encoding="utf-8"?>
<a:theme xmlns:a="http://schemas.openxmlformats.org/drawingml/2006/main" name="Stone Visualizer Demo">
  <a:themeElements>
    <a:clrScheme name="Stone Visualizer Demo">
      <a:dk1>
        <a:srgbClr val="141617"/>
      </a:dk1>
      <a:lt1>
        <a:srgbClr val="EEEBE4"/>
      </a:lt1>
      <a:dk2>
        <a:srgbClr val="2A2B2C"/>
      </a:dk2>
      <a:lt2>
        <a:srgbClr val="B8B6B1"/>
      </a:lt2>
      <a:accent1>
        <a:srgbClr val="B4461A"/>
      </a:accent1>
      <a:accent2>
        <a:srgbClr val="E8662F"/>
      </a:accent2>
      <a:accent3>
        <a:srgbClr val="A9B0AC"/>
      </a:accent3>
      <a:accent4>
        <a:srgbClr val="4F5552"/>
      </a:accent4>
      <a:accent5>
        <a:srgbClr val="9AA0A6"/>
      </a:accent5>
      <a:accent6>
        <a:srgbClr val="979692"/>
      </a:accent6>
      <a:hlink>
        <a:srgbClr val="0563C1"/>
      </a:hlink>
      <a:folHlink>
        <a:srgbClr val="954F72"/>
      </a:folHlink>
    </a:clrScheme>
    <a:fontScheme name="Stone Visualizer Demo">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Stone Visualizer Demo</dc:title>
  <dc:subject/>
  <dc:creator/>
  <cp:lastModifiedBy/>
  <cp:revision>1</cp:revision>
  <dcterms:created xsi:type="dcterms:W3CDTF">2026-10-01T09:33:19Z</dcterms:created>
  <dcterms:modified xsi:type="dcterms:W3CDTF">2026-10-01T09:33:19Z</dcterms:modified>
</cp:coreProperties>
</file>